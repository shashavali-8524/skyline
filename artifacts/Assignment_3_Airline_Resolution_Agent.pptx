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92440" y="0"/>
            <a:ext cx="4096512" cy="6858000"/>
          </a:xfrm>
          <a:prstGeom prst="rect">
            <a:avLst/>
          </a:prstGeom>
          <a:solidFill>
            <a:srgbClr val="173C77"/>
          </a:solidFill>
          <a:ln>
            <a:solidFill>
              <a:srgbClr val="173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732520" y="594360"/>
            <a:ext cx="2651760" cy="5669280"/>
          </a:xfrm>
          <a:prstGeom prst="roundRect">
            <a:avLst/>
          </a:prstGeom>
          <a:solidFill>
            <a:srgbClr val="1F4E97"/>
          </a:solidFill>
          <a:ln>
            <a:solidFill>
              <a:srgbClr val="2F6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566928"/>
            <a:ext cx="32004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Aptos"/>
              </a:defRPr>
            </a:pPr>
            <a:r>
              <a:t>AIONOS · ASSIGNMENT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040880" cy="1417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ptos"/>
              </a:defRPr>
            </a:pPr>
            <a:r>
              <a:t>SkyResolve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42032"/>
            <a:ext cx="6766560" cy="7863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500" b="1">
                <a:solidFill>
                  <a:srgbClr val="DCE8FA"/>
                </a:solidFill>
                <a:latin typeface="Aptos"/>
              </a:defRPr>
            </a:pPr>
            <a:r>
              <a:t>Airline disruption resolution</a:t>
            </a:r>
            <a:br/>
            <a:r>
              <a:t>with deterministic operational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822191"/>
            <a:ext cx="178308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3886200"/>
            <a:ext cx="170992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AUDITABLE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3822191"/>
            <a:ext cx="1965960" cy="34747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3886200"/>
            <a:ext cx="1892807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POLICY-GROUNDED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3822191"/>
            <a:ext cx="1828800" cy="347472"/>
          </a:xfrm>
          <a:prstGeom prst="roundRect">
            <a:avLst/>
          </a:prstGeom>
          <a:solidFill>
            <a:srgbClr val="9A6700"/>
          </a:solidFill>
          <a:ln>
            <a:solidFill>
              <a:srgbClr val="9A6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0016" y="3886200"/>
            <a:ext cx="175564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SAFE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709160"/>
            <a:ext cx="65836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tos"/>
              </a:defRPr>
            </a:pPr>
            <a:r>
              <a:t>Optional AI understands the customer.</a:t>
            </a:r>
            <a:br/>
            <a:r>
              <a:t>Rules decide what the system may 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051560"/>
            <a:ext cx="1965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ptos"/>
              </a:defRPr>
            </a:pPr>
            <a:r>
              <a:t>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1874519"/>
            <a:ext cx="1965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00" b="1">
                <a:solidFill>
                  <a:srgbClr val="38BDF8"/>
                </a:solidFill>
                <a:latin typeface="Aptos"/>
              </a:defRPr>
            </a:pPr>
            <a:r>
              <a:t>DEMO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487168"/>
            <a:ext cx="196596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834640"/>
            <a:ext cx="1965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1">
                <a:solidFill>
                  <a:srgbClr val="BFD4F3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3401568"/>
            <a:ext cx="196596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3749039"/>
            <a:ext cx="1965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1">
                <a:solidFill>
                  <a:srgbClr val="BFD4F3"/>
                </a:solidFill>
                <a:latin typeface="Aptos"/>
              </a:defRPr>
            </a:pPr>
            <a:r>
              <a:t>SEGMENTS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4315968"/>
            <a:ext cx="196596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ptos"/>
              </a:defRPr>
            </a:pPr>
            <a:r>
              <a:t>15 /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4663440"/>
            <a:ext cx="1965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1">
                <a:solidFill>
                  <a:srgbClr val="BFD4F3"/>
                </a:solidFill>
                <a:latin typeface="Aptos"/>
              </a:defRPr>
            </a:pPr>
            <a:r>
              <a:t>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327648"/>
            <a:ext cx="64008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00" b="0">
                <a:solidFill>
                  <a:srgbClr val="B6C6DF"/>
                </a:solidFill>
                <a:latin typeface="Aptos"/>
              </a:defRPr>
            </a:pPr>
            <a:r>
              <a:t>Customer-Facing Resolution Agent  ·  Wednesday, 23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CUSTOMER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One journey, three promises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338328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73152" cy="425196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572768"/>
            <a:ext cx="347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572768"/>
            <a:ext cx="245059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UNDERSTAND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9967"/>
            <a:ext cx="2852928" cy="3474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Read intent and emotion. Retrieve the supplied booking and disruption before making a recommendation.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371600"/>
            <a:ext cx="338328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7408" y="1371600"/>
            <a:ext cx="73152" cy="4251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572768"/>
            <a:ext cx="347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00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6" y="1572768"/>
            <a:ext cx="245059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RESOLVE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029967"/>
            <a:ext cx="2852928" cy="3474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Ask only what is needed. Recommend or simulate the correct action after the policy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1371600"/>
            <a:ext cx="338328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11312" y="1371600"/>
            <a:ext cx="73152" cy="42519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572768"/>
            <a:ext cx="347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1572768"/>
            <a:ext cx="245059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PROTECT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029967"/>
            <a:ext cx="2852928" cy="3474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Escalate when authority is missing. Preserve the conversation, decision and action record.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70448"/>
            <a:ext cx="107899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700" b="1">
                <a:solidFill>
                  <a:srgbClr val="102A56"/>
                </a:solidFill>
                <a:latin typeface="Aptos"/>
              </a:defRPr>
            </a:pPr>
            <a:r>
              <a:t>Natural language in  →  grounded choice  →  authorized simulated action  →  traceable 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INPUTS · SOURCES ·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Grounded in the supplied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53312"/>
            <a:ext cx="36576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53312"/>
            <a:ext cx="73152" cy="1874519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54480"/>
            <a:ext cx="30906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11680"/>
            <a:ext cx="3127248" cy="109727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3 supplied customers</a:t>
            </a:r>
            <a:br/>
            <a:r>
              <a:t>4 supplied flight segments</a:t>
            </a:r>
            <a:br/>
            <a:r>
              <a:t>5 policy rules</a:t>
            </a:r>
            <a:br/>
            <a:r>
              <a:t>Exercise date: Wed, 23 Sep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456432"/>
            <a:ext cx="365760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456432"/>
            <a:ext cx="73152" cy="1938528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657600"/>
            <a:ext cx="30906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TECHNICAL ASSUMPTIONS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114800"/>
            <a:ext cx="3127248" cy="11612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SQLite is a prototype store. Airline tools are API-shaped mocks. UUIDs, timestamps and SIM- IDs are implementation metadata.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353312"/>
            <a:ext cx="6976872" cy="4041648"/>
          </a:xfrm>
          <a:prstGeom prst="roundRect">
            <a:avLst/>
          </a:prstGeom>
          <a:solidFill>
            <a:srgbClr val="102A56"/>
          </a:solidFill>
          <a:ln>
            <a:solidFill>
              <a:srgbClr val="10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10912" y="1691640"/>
            <a:ext cx="6126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Aptos"/>
              </a:defRPr>
            </a:pPr>
            <a:r>
              <a:t>THE HARD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0912" y="2148840"/>
            <a:ext cx="603504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If the pack does not say it,</a:t>
            </a:r>
            <a:br/>
            <a:r>
              <a:t>SkyResolve does not invent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3246120"/>
            <a:ext cx="5943600" cy="43891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DCE8FA"/>
                </a:solidFill>
                <a:latin typeface="Aptos"/>
              </a:defRPr>
            </a:pPr>
            <a:r>
              <a:t>•  No alternate flight or seat inventory</a:t>
            </a:r>
          </a:p>
          <a:p>
            <a:pPr>
              <a:spcAft>
                <a:spcPts val="900"/>
              </a:spcAft>
              <a:defRPr sz="1500">
                <a:solidFill>
                  <a:srgbClr val="DCE8FA"/>
                </a:solidFill>
                <a:latin typeface="Aptos"/>
              </a:defRPr>
            </a:pPr>
            <a:r>
              <a:t>•  No hotel names or payment instruments</a:t>
            </a:r>
          </a:p>
          <a:p>
            <a:pPr>
              <a:spcAft>
                <a:spcPts val="900"/>
              </a:spcAft>
              <a:defRPr sz="1500">
                <a:solidFill>
                  <a:srgbClr val="DCE8FA"/>
                </a:solidFill>
                <a:latin typeface="Aptos"/>
              </a:defRPr>
            </a:pPr>
            <a:r>
              <a:t>•  No refund amounts or extra compensation</a:t>
            </a:r>
          </a:p>
          <a:p>
            <a:pPr>
              <a:spcAft>
                <a:spcPts val="900"/>
              </a:spcAft>
              <a:defRPr sz="1500">
                <a:solidFill>
                  <a:srgbClr val="DCE8FA"/>
                </a:solidFill>
                <a:latin typeface="Aptos"/>
              </a:defRPr>
            </a:pPr>
            <a:r>
              <a:t>•  Sample conversations guide tone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Production-shaped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8288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828800" cy="7315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83080"/>
            <a:ext cx="1536192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102A56"/>
                </a:solidFill>
                <a:latin typeface="Aptos"/>
              </a:defRPr>
            </a:pPr>
            <a:r>
              <a:t>STREAMLIT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84832"/>
            <a:ext cx="160934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ptos"/>
              </a:defRPr>
            </a:pPr>
            <a:r>
              <a:t>Customer + agent workspace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600200"/>
            <a:ext cx="20116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88920" y="1600200"/>
            <a:ext cx="2011680" cy="7315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783080"/>
            <a:ext cx="1719072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102A56"/>
                </a:solidFill>
                <a:latin typeface="Aptos"/>
              </a:defRPr>
            </a:pPr>
            <a:r>
              <a:t>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084832"/>
            <a:ext cx="179222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ptos"/>
              </a:defRPr>
            </a:pPr>
            <a:r>
              <a:t>Context · routing · trace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1051560"/>
            <a:ext cx="20116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0368" y="1051560"/>
            <a:ext cx="2011680" cy="7315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2" y="1234439"/>
            <a:ext cx="1719072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102A56"/>
                </a:solidFill>
                <a:latin typeface="Aptos"/>
              </a:defRPr>
            </a:pPr>
            <a:r>
              <a:t>VALIDATED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0096" y="1536192"/>
            <a:ext cx="179222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ptos"/>
              </a:defRPr>
            </a:pPr>
            <a:r>
              <a:t>Intent · entities · sentiment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0368" y="2267712"/>
            <a:ext cx="20116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30368" y="2267712"/>
            <a:ext cx="2011680" cy="7315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450592"/>
            <a:ext cx="1719072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102A56"/>
                </a:solidFill>
                <a:latin typeface="Aptos"/>
              </a:defRPr>
            </a:pPr>
            <a:r>
              <a:t>POLICY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752344"/>
            <a:ext cx="179222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ptos"/>
              </a:defRPr>
            </a:pPr>
            <a:r>
              <a:t>ALLOW · DENY · ESCALATE · ASK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62672" y="2267712"/>
            <a:ext cx="1965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62672" y="2267712"/>
            <a:ext cx="1965960" cy="7315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8976" y="2450592"/>
            <a:ext cx="1673351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102A56"/>
                </a:solidFill>
                <a:latin typeface="Aptos"/>
              </a:defRPr>
            </a:pPr>
            <a:r>
              <a:t>GUARDRAIL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752344"/>
            <a:ext cx="17465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ptos"/>
              </a:defRPr>
            </a:pPr>
            <a:r>
              <a:t>Authorization 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40112" y="2267712"/>
            <a:ext cx="1600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40112" y="2267712"/>
            <a:ext cx="1600200" cy="73152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6416" y="2450592"/>
            <a:ext cx="1307592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102A56"/>
                </a:solidFill>
                <a:latin typeface="Aptos"/>
              </a:defRPr>
            </a:pPr>
            <a:r>
              <a:t>MOCK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752344"/>
            <a:ext cx="138074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ptos"/>
              </a:defRPr>
            </a:pPr>
            <a:r>
              <a:t>Simulated actions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41648" y="4251960"/>
            <a:ext cx="41148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10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041648" y="4251960"/>
            <a:ext cx="4114800" cy="73152"/>
          </a:xfrm>
          <a:prstGeom prst="roundRect">
            <a:avLst/>
          </a:prstGeom>
          <a:solidFill>
            <a:srgbClr val="102A56"/>
          </a:solidFill>
          <a:ln>
            <a:solidFill>
              <a:srgbClr val="10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7952" y="4434840"/>
            <a:ext cx="3822191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102A56"/>
                </a:solidFill>
                <a:latin typeface="Aptos"/>
              </a:defRPr>
            </a:pPr>
            <a:r>
              <a:t>SQLITE AUDIT 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51376" y="4736592"/>
            <a:ext cx="389534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ptos"/>
              </a:defRPr>
            </a:pPr>
            <a:r>
              <a:t>Messages · classifications · decisions · tools · actions · escalations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377440" y="2011680"/>
            <a:ext cx="41148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800600" y="1463040"/>
            <a:ext cx="429768" cy="54864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800600" y="2011680"/>
            <a:ext cx="429768" cy="65836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242048" y="2670048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628632" y="2670048"/>
            <a:ext cx="41148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236208" y="3090672"/>
            <a:ext cx="0" cy="1161288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498079" y="3090672"/>
            <a:ext cx="3337561" cy="1161288"/>
          </a:xfrm>
          <a:prstGeom prst="line">
            <a:avLst/>
          </a:prstGeom>
          <a:ln w="2540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40080" y="5623560"/>
            <a:ext cx="2743200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5687568"/>
            <a:ext cx="267004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AI PROPOSES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66160" y="5623560"/>
            <a:ext cx="3017520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2736" y="5687568"/>
            <a:ext cx="294436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POLICY AUTHORIZES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0" y="5623560"/>
            <a:ext cx="4114800" cy="347472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03136" y="5687568"/>
            <a:ext cx="404164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TOOLS EXECUTE ONLY WITH A TOKEN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AGENT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Every request follows one controlled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1591056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33271" y="1755648"/>
            <a:ext cx="71323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1819656"/>
            <a:ext cx="6400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04872"/>
            <a:ext cx="12618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102A56"/>
                </a:solidFill>
                <a:latin typeface="Aptos"/>
              </a:defRPr>
            </a:pPr>
            <a:r>
              <a:t>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907792"/>
            <a:ext cx="1261872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Aptos"/>
              </a:defRPr>
            </a:pPr>
            <a:r>
              <a:t>Customer + disruption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1992" y="274320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78024" y="1508760"/>
            <a:ext cx="1591056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16936" y="1755648"/>
            <a:ext cx="71323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53512" y="1819656"/>
            <a:ext cx="6400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2404872"/>
            <a:ext cx="12618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102A56"/>
                </a:solidFill>
                <a:latin typeface="Aptos"/>
              </a:defRPr>
            </a:pPr>
            <a:r>
              <a:t>Classify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907792"/>
            <a:ext cx="1261872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Aptos"/>
              </a:defRPr>
            </a:pPr>
            <a:r>
              <a:t>Intent · entities · sentiment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74320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1508760"/>
            <a:ext cx="1591056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1755648"/>
            <a:ext cx="71323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1819656"/>
            <a:ext cx="6400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404872"/>
            <a:ext cx="12618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102A56"/>
                </a:solidFill>
                <a:latin typeface="Aptos"/>
              </a:defRPr>
            </a:pPr>
            <a:r>
              <a:t>Route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907792"/>
            <a:ext cx="1261872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Aptos"/>
              </a:defRPr>
            </a:pPr>
            <a:r>
              <a:t>Legal/formal → human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274320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508760"/>
            <a:ext cx="1591056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84264" y="1755648"/>
            <a:ext cx="71323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819656"/>
            <a:ext cx="6400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2404872"/>
            <a:ext cx="12618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102A56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2907792"/>
            <a:ext cx="1261872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Aptos"/>
              </a:defRPr>
            </a:pPr>
            <a:r>
              <a:t>Policy checks candidate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2983" y="274320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29016" y="1508760"/>
            <a:ext cx="1591056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67928" y="1755648"/>
            <a:ext cx="71323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4" y="1819656"/>
            <a:ext cx="6400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2404872"/>
            <a:ext cx="12618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102A56"/>
                </a:solidFill>
                <a:latin typeface="Aptos"/>
              </a:defRPr>
            </a:pPr>
            <a:r>
              <a:t>Invoke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2907792"/>
            <a:ext cx="1261872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Aptos"/>
              </a:defRPr>
            </a:pPr>
            <a:r>
              <a:t>Authorized simulated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6648" y="274320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12680" y="1508760"/>
            <a:ext cx="1591056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51592" y="1755648"/>
            <a:ext cx="71323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88168" y="1819656"/>
            <a:ext cx="6400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7272" y="2404872"/>
            <a:ext cx="12618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102A56"/>
                </a:solidFill>
                <a:latin typeface="Aptos"/>
              </a:defRPr>
            </a:pPr>
            <a:r>
              <a:t>Respond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72" y="2907792"/>
            <a:ext cx="1261872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Aptos"/>
              </a:defRPr>
            </a:pPr>
            <a:r>
              <a:t>Grounded reply + trace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5212080"/>
            <a:ext cx="11000232" cy="566928"/>
          </a:xfrm>
          <a:prstGeom prst="roundRect">
            <a:avLst/>
          </a:prstGeom>
          <a:solidFill>
            <a:srgbClr val="E8F8F2"/>
          </a:solidFill>
          <a:ln>
            <a:solidFill>
              <a:srgbClr val="C6E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404104"/>
            <a:ext cx="105156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0F766E"/>
                </a:solidFill>
                <a:latin typeface="Aptos"/>
              </a:defRPr>
            </a:pPr>
            <a:r>
              <a:t>The LLM never decides eligibility and never invokes tools.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AI LAYER + SAFE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AI helps with language - not authority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06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4983480" cy="4251960"/>
          </a:xfrm>
          <a:prstGeom prst="roundRect">
            <a:avLst/>
          </a:prstGeom>
          <a:solidFill>
            <a:srgbClr val="EEF0FF"/>
          </a:solidFill>
          <a:ln>
            <a:solidFill>
              <a:srgbClr val="DC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64208"/>
            <a:ext cx="42976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00" b="1">
                <a:solidFill>
                  <a:srgbClr val="7C3AED"/>
                </a:solidFill>
                <a:latin typeface="Aptos"/>
              </a:defRPr>
            </a:pPr>
            <a:r>
              <a:t>LIVE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42976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500" b="1">
                <a:solidFill>
                  <a:srgbClr val="102A56"/>
                </a:solidFill>
                <a:latin typeface="Aptos"/>
              </a:defRPr>
            </a:pPr>
            <a:r>
              <a:t>Optional Groq classifier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4206240" cy="43891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Structured, validated intents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Entities and sentiment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Safe customer phrasing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11112" y="1325880"/>
            <a:ext cx="4983480" cy="4251960"/>
          </a:xfrm>
          <a:prstGeom prst="roundRect">
            <a:avLst/>
          </a:prstGeom>
          <a:solidFill>
            <a:srgbClr val="EAF7FF"/>
          </a:solidFill>
          <a:ln>
            <a:solidFill>
              <a:srgbClr val="CDE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2" y="1664208"/>
            <a:ext cx="42976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00" b="1">
                <a:solidFill>
                  <a:srgbClr val="0369A1"/>
                </a:solidFill>
                <a:latin typeface="Aptos"/>
              </a:defRPr>
            </a:pPr>
            <a:r>
              <a:t>FALLBACK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103120"/>
            <a:ext cx="42976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500" b="1">
                <a:solidFill>
                  <a:srgbClr val="102A56"/>
                </a:solidFill>
                <a:latin typeface="Aptos"/>
              </a:defRPr>
            </a:pPr>
            <a:r>
              <a:t>Deterministic 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6872" y="2788920"/>
            <a:ext cx="4206240" cy="43891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No key, malformed output or timeout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Transparent offline behavior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Same deterministic policy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2432" y="2907792"/>
            <a:ext cx="685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  <a:latin typeface="Aptos"/>
              </a:defRPr>
            </a:pPr>
            <a:r>
              <a:t>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5806440"/>
            <a:ext cx="8138160" cy="438912"/>
          </a:xfrm>
          <a:prstGeom prst="roundRect">
            <a:avLst/>
          </a:prstGeom>
          <a:solidFill>
            <a:srgbClr val="102A56"/>
          </a:solidFill>
          <a:ln>
            <a:solidFill>
              <a:srgbClr val="10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80" y="5934456"/>
            <a:ext cx="7680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Customer text is untrusted data. Policy remains deterministic.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Policy is the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07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53312"/>
            <a:ext cx="5349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234440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09928"/>
            <a:ext cx="11612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67335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102A56"/>
                </a:solidFill>
                <a:latin typeface="Aptos"/>
              </a:defRPr>
            </a:pPr>
            <a:r>
              <a:t>Within policy and authority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53312"/>
            <a:ext cx="5349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1645920"/>
            <a:ext cx="1234440" cy="347472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709928"/>
            <a:ext cx="11612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DENY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67335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102A56"/>
                </a:solidFill>
                <a:latin typeface="Aptos"/>
              </a:defRPr>
            </a:pPr>
            <a:r>
              <a:t>Explicitly outside supplied policy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587752"/>
            <a:ext cx="5349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880360"/>
            <a:ext cx="1234440" cy="34747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944368"/>
            <a:ext cx="11612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ESCALATE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8568" y="290779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102A56"/>
                </a:solidFill>
                <a:latin typeface="Aptos"/>
              </a:defRPr>
            </a:pPr>
            <a:r>
              <a:t>Needs a human or higher authority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87752"/>
            <a:ext cx="5349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2880360"/>
            <a:ext cx="123444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944368"/>
            <a:ext cx="11612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0779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102A56"/>
                </a:solidFill>
                <a:latin typeface="Aptos"/>
              </a:defRPr>
            </a:pPr>
            <a:r>
              <a:t>Missing a decision or grounded fact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005072"/>
            <a:ext cx="342900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005072"/>
            <a:ext cx="73152" cy="157276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206240"/>
            <a:ext cx="28620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MONEY &amp; LOYALTY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663440"/>
            <a:ext cx="2898648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Original-method refunds only. ₹1,500 waiver cap. Gold/Platinum add priority, not compensation.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4005072"/>
            <a:ext cx="342900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79976" y="4005072"/>
            <a:ext cx="73152" cy="1572768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72584" y="4206240"/>
            <a:ext cx="28620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HOTEL &amp; INVENTORY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2584" y="4663440"/>
            <a:ext cx="2898648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Hotel covers delayed hours only. No invented flights, seats, hotels or availability.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2" y="4005072"/>
            <a:ext cx="342900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65592" y="4005072"/>
            <a:ext cx="73152" cy="15727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4206240"/>
            <a:ext cx="28620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SAFETY &amp; TRACE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663440"/>
            <a:ext cx="2898648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Ownership checks, idempotency and immediate legal/formal escalation before mutation.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916168"/>
            <a:ext cx="10789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102A56"/>
                </a:solidFill>
                <a:latin typeface="Aptos"/>
              </a:defRPr>
            </a:pPr>
            <a:r>
              <a:t>Source silence at exactly 3h or 5h is handled by escalation - never by inventing a rule.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SCENARIO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Three customers prove the decision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3401568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73152" cy="4434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72768"/>
            <a:ext cx="28346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PRIYA · GOLD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29967"/>
            <a:ext cx="2871216" cy="365759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CANCELLED</a:t>
            </a:r>
            <a:br/>
            <a:br/>
            <a:r>
              <a:t>Offer free next-available rebooking within 24h or full refund to original method. Cash/different-method refund and free upgrade escalate. Anger alone is not a legal escalation.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371600"/>
            <a:ext cx="3401568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98264" y="1371600"/>
            <a:ext cx="73152" cy="443484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572768"/>
            <a:ext cx="28346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ARVIND · SILVER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029967"/>
            <a:ext cx="2871216" cy="365759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4-HOUR DELAY</a:t>
            </a:r>
            <a:br/>
            <a:br/>
            <a:r>
              <a:t>₹500 meal voucher + lounge are allowed. Hotel is denied. A missed meeting creates no additional policy benefit.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02168" y="1371600"/>
            <a:ext cx="3401568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02168" y="1371600"/>
            <a:ext cx="73152" cy="443484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1572768"/>
            <a:ext cx="28346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102A56"/>
                </a:solidFill>
                <a:latin typeface="Aptos"/>
              </a:defRPr>
            </a:pPr>
            <a:r>
              <a:t>MEHER · PLATINUM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029967"/>
            <a:ext cx="2871216" cy="365759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Aptos"/>
              </a:defRPr>
            </a:pPr>
            <a:r>
              <a:t>6-HOUR DELAY</a:t>
            </a:r>
            <a:br/>
            <a:br/>
            <a:r>
              <a:t>Meal + lounge + six delayed hours of hotel are allowed. Full night is denied. ₹2,000 waiver exceeds authority and escalates.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5138928"/>
            <a:ext cx="1874519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5202936"/>
            <a:ext cx="1801367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CHOICE +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5138928"/>
            <a:ext cx="1874519" cy="34747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5202936"/>
            <a:ext cx="1801367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102A56"/>
                </a:solidFill>
                <a:latin typeface="Aptos"/>
              </a:defRPr>
            </a:pPr>
            <a:r>
              <a:t>ALLOW + DENY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5138928"/>
            <a:ext cx="1874519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3415" y="5202936"/>
            <a:ext cx="1801367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ALLOW + ESCALATE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TRACEABILITY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102A56"/>
                </a:solidFill>
                <a:latin typeface="Aptos"/>
              </a:defRPr>
            </a:pPr>
            <a:r>
              <a:t>One correlation ID connects the full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ptos"/>
              </a:defRPr>
            </a:pPr>
            <a:r>
              <a:t>09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691640" cy="34747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481328"/>
            <a:ext cx="16184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145389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44368" y="1417320"/>
            <a:ext cx="1691640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1481328"/>
            <a:ext cx="16184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145389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1417320"/>
            <a:ext cx="1691640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2" y="1481328"/>
            <a:ext cx="16184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45389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2944" y="1417320"/>
            <a:ext cx="1691640" cy="347472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19" y="1481328"/>
            <a:ext cx="16184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0304" y="145389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57232" y="1417320"/>
            <a:ext cx="169164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93807" y="1481328"/>
            <a:ext cx="161848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RESPONSE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240280"/>
            <a:ext cx="694944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578608"/>
            <a:ext cx="63093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Aptos"/>
              </a:defRPr>
            </a:pPr>
            <a:r>
              <a:t>AUDIT STORE CAPTURES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08960"/>
            <a:ext cx="6309360" cy="43891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Messages and classifications</a:t>
            </a:r>
          </a:p>
          <a:p>
            <a:pPr>
              <a:spcAft>
                <a:spcPts val="9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Decisions and reasons</a:t>
            </a:r>
          </a:p>
          <a:p>
            <a:pPr>
              <a:spcAft>
                <a:spcPts val="9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Tool calls and simulated actions</a:t>
            </a:r>
          </a:p>
          <a:p>
            <a:pPr>
              <a:spcAft>
                <a:spcPts val="9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Escalations and CSV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73568" y="2240280"/>
            <a:ext cx="3611880" cy="2971800"/>
          </a:xfrm>
          <a:prstGeom prst="roundRect">
            <a:avLst/>
          </a:prstGeom>
          <a:solidFill>
            <a:srgbClr val="102A56"/>
          </a:solidFill>
          <a:ln>
            <a:solidFill>
              <a:srgbClr val="10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2615184"/>
            <a:ext cx="2926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ptos"/>
              </a:defRPr>
            </a:pPr>
            <a:r>
              <a:t>15 /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182112"/>
            <a:ext cx="29260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00" b="1">
                <a:solidFill>
                  <a:srgbClr val="38BDF8"/>
                </a:solidFill>
                <a:latin typeface="Aptos"/>
              </a:defRPr>
            </a:pPr>
            <a:r>
              <a:t>TESTS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767328"/>
            <a:ext cx="292608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0">
                <a:solidFill>
                  <a:srgbClr val="DCE8FA"/>
                </a:solidFill>
                <a:latin typeface="Aptos"/>
              </a:defRPr>
            </a:pPr>
            <a:r>
              <a:t>Scenarios · authority</a:t>
            </a:r>
            <a:br/>
            <a:r>
              <a:t>ambiguity · ownership</a:t>
            </a:r>
            <a:br/>
            <a:r>
              <a:t>inventory · multi-turn cards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315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ptos"/>
              </a:defRPr>
            </a:pPr>
            <a:r>
              <a:t>SKYRESOLVE AI  ·  ASSIGNMENT 3  ·  ALL AIRLINE ACTIONS SIMULATED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Aptos"/>
              </a:defRPr>
            </a:pPr>
            <a:r>
              <a:t>DELIVERY +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t>Demo now. Production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29184"/>
            <a:ext cx="6858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1">
                <a:solidFill>
                  <a:srgbClr val="B6C6DF"/>
                </a:solidFill>
                <a:latin typeface="Aptos"/>
              </a:defRPr>
            </a:pPr>
            <a: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53312"/>
            <a:ext cx="5230368" cy="4343400"/>
          </a:xfrm>
          <a:prstGeom prst="roundRect">
            <a:avLst/>
          </a:prstGeom>
          <a:solidFill>
            <a:srgbClr val="173C77"/>
          </a:solidFill>
          <a:ln>
            <a:solidFill>
              <a:srgbClr val="2D5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91640"/>
            <a:ext cx="4526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Aptos"/>
              </a:defRPr>
            </a:pPr>
            <a: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4526280" cy="43891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Run Priya and click decision evidence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Continue the conversation across turns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Show Arvind and Meher outcomes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Open audit trace and export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Confirm 15/15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53312"/>
            <a:ext cx="5394960" cy="4343400"/>
          </a:xfrm>
          <a:prstGeom prst="roundRect">
            <a:avLst/>
          </a:prstGeom>
          <a:solidFill>
            <a:srgbClr val="F8FAFC"/>
          </a:solidFill>
          <a:ln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663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Aptos"/>
              </a:defRPr>
            </a:pPr>
            <a:r>
              <a:t>PRODUCTION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663440" cy="43891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Authenticated customer sessions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Live booking, inventory and refund APIs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Secrets, RBAC and encryption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Human case queues and monitoring</a:t>
            </a:r>
          </a:p>
          <a:p>
            <a:pPr>
              <a:spcAft>
                <a:spcPts val="1000"/>
              </a:spcAft>
              <a:defRPr sz="1600">
                <a:solidFill>
                  <a:srgbClr val="17233B"/>
                </a:solidFill>
                <a:latin typeface="Aptos"/>
              </a:defRPr>
            </a:pPr>
            <a:r>
              <a:t>•  Classifier and response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16752"/>
            <a:ext cx="107442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ptos"/>
              </a:defRPr>
            </a:pPr>
            <a:r>
              <a:t>Empathetic AI experience. Deterministic operational control.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00" b="1">
                <a:solidFill>
                  <a:srgbClr val="B6C6DF"/>
                </a:solidFill>
                <a:latin typeface="Aptos"/>
              </a:defRPr>
            </a:pPr>
            <a:r>
              <a:t>CURRENT LIMITS  ·  static supplied data  ·  local SQLite  ·  simulated airline actions  ·  no real inventory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